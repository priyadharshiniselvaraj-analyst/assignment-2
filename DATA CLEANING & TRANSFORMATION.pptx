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59" r:id="rId7"/>
    <p:sldId id="260" r:id="rId8"/>
    <p:sldId id="261" r:id="rId9"/>
    <p:sldId id="262" r:id="rId10"/>
    <p:sldId id="263" r:id="rId11"/>
    <p:sldId id="264"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9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9/2/2026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9/2/2026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9/2/2026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9/2/2026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9/2/2026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9/2/2026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9/2/2026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9/2/2026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9/2/2026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9/2/2026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9/2/2026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9/2/2026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4800" dirty="0"/>
              <a:t>DATA CLEANING &amp; TRANSFORMATION</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a:solidFill>
                  <a:schemeClr val="tx1">
                    <a:lumMod val="85000"/>
                    <a:lumOff val="15000"/>
                  </a:schemeClr>
                </a:solidFill>
              </a:rPr>
              <a:t>EXCEL ASSIGNMENT-2 REPORT</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r>
              <a:rPr lang="en-US" sz="4800" i="1" dirty="0">
                <a:solidFill>
                  <a:srgbClr val="FFFFFF"/>
                </a:solidFill>
              </a:rPr>
              <a:t>“NO DATA IS CLEAN,</a:t>
            </a:r>
            <a:br>
              <a:rPr lang="en-US" sz="4800" i="1" dirty="0">
                <a:solidFill>
                  <a:srgbClr val="FFFFFF"/>
                </a:solidFill>
              </a:rPr>
            </a:br>
            <a:r>
              <a:rPr lang="en-US" sz="4800" i="1" dirty="0">
                <a:solidFill>
                  <a:srgbClr val="FFFFFF"/>
                </a:solidFill>
              </a:rPr>
              <a:t>BUT MOST IS USEFUL.”</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 DEAN ABBOTT</a:t>
            </a: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C71D3-A3FC-F26A-216C-6BFA986FAFBC}"/>
              </a:ext>
            </a:extLst>
          </p:cNvPr>
          <p:cNvSpPr>
            <a:spLocks noGrp="1"/>
          </p:cNvSpPr>
          <p:nvPr>
            <p:ph type="title"/>
          </p:nvPr>
        </p:nvSpPr>
        <p:spPr/>
        <p:txBody>
          <a:bodyPr/>
          <a:lstStyle/>
          <a:p>
            <a:r>
              <a:rPr lang="en-GB" dirty="0"/>
              <a:t>1.EXCUTIVE SUMMARY</a:t>
            </a:r>
            <a:endParaRPr lang="en-IN" dirty="0"/>
          </a:p>
        </p:txBody>
      </p:sp>
      <p:sp>
        <p:nvSpPr>
          <p:cNvPr id="3" name="Content Placeholder 2">
            <a:extLst>
              <a:ext uri="{FF2B5EF4-FFF2-40B4-BE49-F238E27FC236}">
                <a16:creationId xmlns:a16="http://schemas.microsoft.com/office/drawing/2014/main" id="{0008321D-73EF-89F7-6DD1-E9917481B13E}"/>
              </a:ext>
            </a:extLst>
          </p:cNvPr>
          <p:cNvSpPr>
            <a:spLocks noGrp="1"/>
          </p:cNvSpPr>
          <p:nvPr>
            <p:ph idx="1"/>
          </p:nvPr>
        </p:nvSpPr>
        <p:spPr/>
        <p:txBody>
          <a:bodyPr>
            <a:normAutofit/>
          </a:bodyPr>
          <a:lstStyle/>
          <a:p>
            <a:r>
              <a:rPr lang="en-GB" sz="4000" dirty="0"/>
              <a:t>This report documents the workflow and operations performed on the </a:t>
            </a:r>
            <a:r>
              <a:rPr lang="en-GB" sz="4000" dirty="0" err="1"/>
              <a:t>dateset</a:t>
            </a:r>
            <a:r>
              <a:rPr lang="en-GB" sz="4000" dirty="0"/>
              <a:t>, shown in excel assignment. The assignment focused on the transforming raw data to clean and processed data.</a:t>
            </a:r>
          </a:p>
          <a:p>
            <a:endParaRPr lang="en-GB" sz="4000" dirty="0"/>
          </a:p>
          <a:p>
            <a:endParaRPr lang="en-GB" sz="4000" dirty="0"/>
          </a:p>
          <a:p>
            <a:endParaRPr lang="en-GB" sz="4000" dirty="0"/>
          </a:p>
          <a:p>
            <a:endParaRPr lang="en-GB" sz="4000" dirty="0"/>
          </a:p>
          <a:p>
            <a:endParaRPr lang="en-GB" sz="4000" dirty="0"/>
          </a:p>
          <a:p>
            <a:endParaRPr lang="en-IN" sz="4000" dirty="0"/>
          </a:p>
        </p:txBody>
      </p:sp>
    </p:spTree>
    <p:extLst>
      <p:ext uri="{BB962C8B-B14F-4D97-AF65-F5344CB8AC3E}">
        <p14:creationId xmlns:p14="http://schemas.microsoft.com/office/powerpoint/2010/main" val="112986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1FB2B-0129-AE57-6FF6-D260045D175A}"/>
              </a:ext>
            </a:extLst>
          </p:cNvPr>
          <p:cNvSpPr>
            <a:spLocks noGrp="1"/>
          </p:cNvSpPr>
          <p:nvPr>
            <p:ph type="title"/>
          </p:nvPr>
        </p:nvSpPr>
        <p:spPr/>
        <p:txBody>
          <a:bodyPr/>
          <a:lstStyle/>
          <a:p>
            <a:r>
              <a:rPr lang="en-GB" dirty="0"/>
              <a:t>Tasks Performed:</a:t>
            </a:r>
            <a:endParaRPr lang="en-IN" dirty="0"/>
          </a:p>
        </p:txBody>
      </p:sp>
      <p:sp>
        <p:nvSpPr>
          <p:cNvPr id="3" name="Content Placeholder 2">
            <a:extLst>
              <a:ext uri="{FF2B5EF4-FFF2-40B4-BE49-F238E27FC236}">
                <a16:creationId xmlns:a16="http://schemas.microsoft.com/office/drawing/2014/main" id="{CF94916D-87B8-6233-823B-F10BCEC359E1}"/>
              </a:ext>
            </a:extLst>
          </p:cNvPr>
          <p:cNvSpPr>
            <a:spLocks noGrp="1"/>
          </p:cNvSpPr>
          <p:nvPr>
            <p:ph idx="1"/>
          </p:nvPr>
        </p:nvSpPr>
        <p:spPr/>
        <p:txBody>
          <a:bodyPr/>
          <a:lstStyle/>
          <a:p>
            <a:r>
              <a:rPr lang="en-GB" b="1" dirty="0">
                <a:solidFill>
                  <a:schemeClr val="tx1"/>
                </a:solidFill>
              </a:rPr>
              <a:t>1. Duplicates Cleaned:</a:t>
            </a:r>
          </a:p>
          <a:p>
            <a:r>
              <a:rPr lang="en-IN" dirty="0">
                <a:solidFill>
                  <a:schemeClr val="tx1"/>
                </a:solidFill>
              </a:rPr>
              <a:t>As the first step of cleaning the raw</a:t>
            </a:r>
          </a:p>
          <a:p>
            <a:r>
              <a:rPr lang="en-IN" dirty="0">
                <a:solidFill>
                  <a:schemeClr val="tx1"/>
                </a:solidFill>
              </a:rPr>
              <a:t>Data, Duplicates has been removed.</a:t>
            </a:r>
          </a:p>
          <a:p>
            <a:r>
              <a:rPr lang="en-IN" dirty="0">
                <a:solidFill>
                  <a:schemeClr val="tx1"/>
                </a:solidFill>
              </a:rPr>
              <a:t>by selecting the unique id column</a:t>
            </a:r>
          </a:p>
          <a:p>
            <a:r>
              <a:rPr lang="en-IN" dirty="0">
                <a:solidFill>
                  <a:schemeClr val="tx1"/>
                </a:solidFill>
              </a:rPr>
              <a:t>and selected remove duplicates </a:t>
            </a:r>
          </a:p>
          <a:p>
            <a:r>
              <a:rPr lang="en-IN" dirty="0">
                <a:solidFill>
                  <a:schemeClr val="tx1"/>
                </a:solidFill>
              </a:rPr>
              <a:t>option from the data tab in the </a:t>
            </a:r>
          </a:p>
          <a:p>
            <a:r>
              <a:rPr lang="en-IN" dirty="0">
                <a:solidFill>
                  <a:schemeClr val="tx1"/>
                </a:solidFill>
              </a:rPr>
              <a:t>Ribbon.</a:t>
            </a:r>
          </a:p>
        </p:txBody>
      </p:sp>
      <p:pic>
        <p:nvPicPr>
          <p:cNvPr id="6" name="Picture 5">
            <a:extLst>
              <a:ext uri="{FF2B5EF4-FFF2-40B4-BE49-F238E27FC236}">
                <a16:creationId xmlns:a16="http://schemas.microsoft.com/office/drawing/2014/main" id="{573D0552-2EB0-BAFA-BFDE-35BFBA67E610}"/>
              </a:ext>
            </a:extLst>
          </p:cNvPr>
          <p:cNvPicPr>
            <a:picLocks noChangeAspect="1"/>
          </p:cNvPicPr>
          <p:nvPr/>
        </p:nvPicPr>
        <p:blipFill>
          <a:blip r:embed="rId2"/>
          <a:stretch>
            <a:fillRect/>
          </a:stretch>
        </p:blipFill>
        <p:spPr>
          <a:xfrm>
            <a:off x="4916686" y="2108201"/>
            <a:ext cx="6916115" cy="3760891"/>
          </a:xfrm>
          <a:prstGeom prst="rect">
            <a:avLst/>
          </a:prstGeom>
        </p:spPr>
      </p:pic>
    </p:spTree>
    <p:extLst>
      <p:ext uri="{BB962C8B-B14F-4D97-AF65-F5344CB8AC3E}">
        <p14:creationId xmlns:p14="http://schemas.microsoft.com/office/powerpoint/2010/main" val="3829569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1C559C-B820-DAF6-4543-3A9E91F1C282}"/>
              </a:ext>
            </a:extLst>
          </p:cNvPr>
          <p:cNvSpPr>
            <a:spLocks noGrp="1"/>
          </p:cNvSpPr>
          <p:nvPr>
            <p:ph idx="1"/>
          </p:nvPr>
        </p:nvSpPr>
        <p:spPr>
          <a:xfrm>
            <a:off x="1097280" y="377371"/>
            <a:ext cx="10058400" cy="5491722"/>
          </a:xfrm>
        </p:spPr>
        <p:txBody>
          <a:bodyPr/>
          <a:lstStyle/>
          <a:p>
            <a:r>
              <a:rPr lang="en-IN" b="1" dirty="0">
                <a:solidFill>
                  <a:schemeClr val="tx1"/>
                </a:solidFill>
              </a:rPr>
              <a:t>2. Correcting Inconsistent Data:</a:t>
            </a:r>
          </a:p>
          <a:p>
            <a:pPr lvl="5"/>
            <a:r>
              <a:rPr lang="en-IN" sz="2000" dirty="0">
                <a:solidFill>
                  <a:schemeClr val="tx1"/>
                </a:solidFill>
              </a:rPr>
              <a:t>Identified typos present in the category column and removed by find and replace options, </a:t>
            </a:r>
            <a:r>
              <a:rPr lang="en-IN" sz="2000" dirty="0" err="1">
                <a:solidFill>
                  <a:schemeClr val="tx1"/>
                </a:solidFill>
              </a:rPr>
              <a:t>shortscuts</a:t>
            </a:r>
            <a:r>
              <a:rPr lang="en-IN" sz="2000" dirty="0">
                <a:solidFill>
                  <a:schemeClr val="tx1"/>
                </a:solidFill>
              </a:rPr>
              <a:t> used: </a:t>
            </a:r>
            <a:r>
              <a:rPr lang="en-IN" sz="2000" dirty="0" err="1">
                <a:solidFill>
                  <a:schemeClr val="tx1"/>
                </a:solidFill>
              </a:rPr>
              <a:t>cntrl</a:t>
            </a:r>
            <a:r>
              <a:rPr lang="en-IN" sz="2000" dirty="0">
                <a:solidFill>
                  <a:schemeClr val="tx1"/>
                </a:solidFill>
              </a:rPr>
              <a:t> + H is used to find all the typos and replaced with the correct spelling. In the column b proper() function is used to align the column completely in the proper case.</a:t>
            </a:r>
          </a:p>
        </p:txBody>
      </p:sp>
      <p:pic>
        <p:nvPicPr>
          <p:cNvPr id="4" name="Picture 3">
            <a:extLst>
              <a:ext uri="{FF2B5EF4-FFF2-40B4-BE49-F238E27FC236}">
                <a16:creationId xmlns:a16="http://schemas.microsoft.com/office/drawing/2014/main" id="{1377B974-A55B-95FB-CE77-A6540B14CA68}"/>
              </a:ext>
            </a:extLst>
          </p:cNvPr>
          <p:cNvPicPr>
            <a:picLocks noChangeAspect="1"/>
          </p:cNvPicPr>
          <p:nvPr/>
        </p:nvPicPr>
        <p:blipFill>
          <a:blip r:embed="rId2"/>
          <a:stretch>
            <a:fillRect/>
          </a:stretch>
        </p:blipFill>
        <p:spPr>
          <a:xfrm>
            <a:off x="619657" y="2046514"/>
            <a:ext cx="6463314" cy="4034972"/>
          </a:xfrm>
          <a:prstGeom prst="rect">
            <a:avLst/>
          </a:prstGeom>
        </p:spPr>
      </p:pic>
      <p:pic>
        <p:nvPicPr>
          <p:cNvPr id="6" name="Picture 5">
            <a:extLst>
              <a:ext uri="{FF2B5EF4-FFF2-40B4-BE49-F238E27FC236}">
                <a16:creationId xmlns:a16="http://schemas.microsoft.com/office/drawing/2014/main" id="{8AA57F12-1085-467A-909D-C393A98F3364}"/>
              </a:ext>
            </a:extLst>
          </p:cNvPr>
          <p:cNvPicPr>
            <a:picLocks noChangeAspect="1"/>
          </p:cNvPicPr>
          <p:nvPr/>
        </p:nvPicPr>
        <p:blipFill>
          <a:blip r:embed="rId3"/>
          <a:stretch>
            <a:fillRect/>
          </a:stretch>
        </p:blipFill>
        <p:spPr>
          <a:xfrm>
            <a:off x="7298823" y="2046514"/>
            <a:ext cx="4334480" cy="4136572"/>
          </a:xfrm>
          <a:prstGeom prst="rect">
            <a:avLst/>
          </a:prstGeom>
        </p:spPr>
      </p:pic>
    </p:spTree>
    <p:extLst>
      <p:ext uri="{BB962C8B-B14F-4D97-AF65-F5344CB8AC3E}">
        <p14:creationId xmlns:p14="http://schemas.microsoft.com/office/powerpoint/2010/main" val="83403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60484B-1345-70A9-CFB2-4FE2285DAB5F}"/>
              </a:ext>
            </a:extLst>
          </p:cNvPr>
          <p:cNvSpPr>
            <a:spLocks noGrp="1"/>
          </p:cNvSpPr>
          <p:nvPr>
            <p:ph idx="1"/>
          </p:nvPr>
        </p:nvSpPr>
        <p:spPr>
          <a:xfrm>
            <a:off x="937623" y="362857"/>
            <a:ext cx="10058400" cy="5805713"/>
          </a:xfrm>
        </p:spPr>
        <p:txBody>
          <a:bodyPr/>
          <a:lstStyle/>
          <a:p>
            <a:r>
              <a:rPr lang="en-IN" b="1" dirty="0">
                <a:solidFill>
                  <a:schemeClr val="tx1"/>
                </a:solidFill>
              </a:rPr>
              <a:t>3. Splitting and Merging Data:</a:t>
            </a:r>
            <a:r>
              <a:rPr lang="en-IN" dirty="0"/>
              <a:t> </a:t>
            </a:r>
          </a:p>
          <a:p>
            <a:pPr lvl="1"/>
            <a:r>
              <a:rPr lang="en-IN" b="1" u="sng" dirty="0">
                <a:solidFill>
                  <a:schemeClr val="tx1"/>
                </a:solidFill>
              </a:rPr>
              <a:t>Splitting</a:t>
            </a:r>
            <a:r>
              <a:rPr lang="en-IN" dirty="0"/>
              <a:t>: Product id column is </a:t>
            </a:r>
            <a:r>
              <a:rPr lang="en-IN" dirty="0" err="1"/>
              <a:t>splitted</a:t>
            </a:r>
            <a:r>
              <a:rPr lang="en-IN" dirty="0"/>
              <a:t> into two columns as </a:t>
            </a:r>
            <a:r>
              <a:rPr lang="en-IN" dirty="0" err="1"/>
              <a:t>Manufaturing</a:t>
            </a:r>
            <a:r>
              <a:rPr lang="en-IN" dirty="0"/>
              <a:t> date and Country code, by </a:t>
            </a:r>
            <a:r>
              <a:rPr lang="en-IN" dirty="0" err="1"/>
              <a:t>selectimg</a:t>
            </a:r>
            <a:r>
              <a:rPr lang="en-IN" dirty="0"/>
              <a:t> the column, in ribbon in data tab, in data tools group, text to column function is used in that select the </a:t>
            </a:r>
            <a:r>
              <a:rPr lang="en-IN" dirty="0" err="1"/>
              <a:t>fixied</a:t>
            </a:r>
            <a:r>
              <a:rPr lang="en-IN" dirty="0"/>
              <a:t> width and give next option and fix the width and change the general format to text format.</a:t>
            </a:r>
          </a:p>
          <a:p>
            <a:pPr lvl="1"/>
            <a:r>
              <a:rPr lang="en-IN" b="1" dirty="0" err="1">
                <a:solidFill>
                  <a:schemeClr val="tx1"/>
                </a:solidFill>
              </a:rPr>
              <a:t>Mergging</a:t>
            </a:r>
            <a:r>
              <a:rPr lang="en-IN" b="1" dirty="0">
                <a:solidFill>
                  <a:schemeClr val="tx1"/>
                </a:solidFill>
              </a:rPr>
              <a:t>: </a:t>
            </a:r>
            <a:r>
              <a:rPr lang="en-IN" dirty="0">
                <a:solidFill>
                  <a:schemeClr val="tx1"/>
                </a:solidFill>
              </a:rPr>
              <a:t>to merge two options </a:t>
            </a:r>
            <a:r>
              <a:rPr lang="en-IN" dirty="0" err="1">
                <a:solidFill>
                  <a:schemeClr val="tx1"/>
                </a:solidFill>
              </a:rPr>
              <a:t>canbe</a:t>
            </a:r>
            <a:r>
              <a:rPr lang="en-IN" dirty="0">
                <a:solidFill>
                  <a:schemeClr val="tx1"/>
                </a:solidFill>
              </a:rPr>
              <a:t> used </a:t>
            </a:r>
            <a:r>
              <a:rPr lang="en-IN" dirty="0" err="1">
                <a:solidFill>
                  <a:schemeClr val="tx1"/>
                </a:solidFill>
              </a:rPr>
              <a:t>oneis</a:t>
            </a:r>
            <a:r>
              <a:rPr lang="en-IN" dirty="0">
                <a:solidFill>
                  <a:schemeClr val="tx1"/>
                </a:solidFill>
              </a:rPr>
              <a:t> concatenate and other one is in home tab use merge . </a:t>
            </a:r>
            <a:endParaRPr lang="en-IN" b="1" dirty="0">
              <a:solidFill>
                <a:schemeClr val="tx1"/>
              </a:solidFill>
            </a:endParaRPr>
          </a:p>
        </p:txBody>
      </p:sp>
      <p:pic>
        <p:nvPicPr>
          <p:cNvPr id="4" name="Picture 3">
            <a:extLst>
              <a:ext uri="{FF2B5EF4-FFF2-40B4-BE49-F238E27FC236}">
                <a16:creationId xmlns:a16="http://schemas.microsoft.com/office/drawing/2014/main" id="{B5E67EDC-8A3E-A20A-2C23-CDC79F3514DE}"/>
              </a:ext>
            </a:extLst>
          </p:cNvPr>
          <p:cNvPicPr>
            <a:picLocks noChangeAspect="1"/>
          </p:cNvPicPr>
          <p:nvPr/>
        </p:nvPicPr>
        <p:blipFill>
          <a:blip r:embed="rId2"/>
          <a:stretch>
            <a:fillRect/>
          </a:stretch>
        </p:blipFill>
        <p:spPr>
          <a:xfrm>
            <a:off x="856707" y="2078009"/>
            <a:ext cx="5110116" cy="4249467"/>
          </a:xfrm>
          <a:prstGeom prst="rect">
            <a:avLst/>
          </a:prstGeom>
        </p:spPr>
      </p:pic>
      <p:pic>
        <p:nvPicPr>
          <p:cNvPr id="5" name="Picture 4">
            <a:extLst>
              <a:ext uri="{FF2B5EF4-FFF2-40B4-BE49-F238E27FC236}">
                <a16:creationId xmlns:a16="http://schemas.microsoft.com/office/drawing/2014/main" id="{A318B45D-0D81-3B21-FFBB-88E25A8BD751}"/>
              </a:ext>
            </a:extLst>
          </p:cNvPr>
          <p:cNvPicPr>
            <a:picLocks noChangeAspect="1"/>
          </p:cNvPicPr>
          <p:nvPr/>
        </p:nvPicPr>
        <p:blipFill>
          <a:blip r:embed="rId3"/>
          <a:stretch>
            <a:fillRect/>
          </a:stretch>
        </p:blipFill>
        <p:spPr>
          <a:xfrm>
            <a:off x="6670765" y="2078009"/>
            <a:ext cx="4325258" cy="4152248"/>
          </a:xfrm>
          <a:prstGeom prst="rect">
            <a:avLst/>
          </a:prstGeom>
        </p:spPr>
      </p:pic>
    </p:spTree>
    <p:extLst>
      <p:ext uri="{BB962C8B-B14F-4D97-AF65-F5344CB8AC3E}">
        <p14:creationId xmlns:p14="http://schemas.microsoft.com/office/powerpoint/2010/main" val="3877730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AEBE65-B590-DEB9-4405-DB05EC76C95E}"/>
              </a:ext>
            </a:extLst>
          </p:cNvPr>
          <p:cNvSpPr>
            <a:spLocks noGrp="1"/>
          </p:cNvSpPr>
          <p:nvPr>
            <p:ph idx="1"/>
          </p:nvPr>
        </p:nvSpPr>
        <p:spPr>
          <a:xfrm>
            <a:off x="1097280" y="304801"/>
            <a:ext cx="10058400" cy="5564292"/>
          </a:xfrm>
        </p:spPr>
        <p:txBody>
          <a:bodyPr/>
          <a:lstStyle/>
          <a:p>
            <a:r>
              <a:rPr lang="en-GB" b="1" dirty="0">
                <a:solidFill>
                  <a:schemeClr val="tx1"/>
                </a:solidFill>
              </a:rPr>
              <a:t>4.Number Formatting:</a:t>
            </a:r>
          </a:p>
          <a:p>
            <a:pPr lvl="1"/>
            <a:r>
              <a:rPr lang="en-GB" dirty="0">
                <a:solidFill>
                  <a:schemeClr val="tx1"/>
                </a:solidFill>
              </a:rPr>
              <a:t>In the number formatting options, two operations are done in the two different columns they are currency format in price column and the date format as “dd-mm-</a:t>
            </a:r>
            <a:r>
              <a:rPr lang="en-GB" dirty="0" err="1">
                <a:solidFill>
                  <a:schemeClr val="tx1"/>
                </a:solidFill>
              </a:rPr>
              <a:t>yyyy</a:t>
            </a:r>
            <a:r>
              <a:rPr lang="en-GB" dirty="0">
                <a:solidFill>
                  <a:schemeClr val="tx1"/>
                </a:solidFill>
              </a:rPr>
              <a:t>” in the manufacturing date column. By right clicking the cell and selecting formatting cell options and currency and date formation is done.</a:t>
            </a:r>
          </a:p>
          <a:p>
            <a:pPr marL="0" indent="0">
              <a:buNone/>
            </a:pPr>
            <a:endParaRPr lang="en-GB" b="1" dirty="0">
              <a:solidFill>
                <a:schemeClr val="tx1"/>
              </a:solidFill>
            </a:endParaRPr>
          </a:p>
          <a:p>
            <a:pPr marL="0" indent="0">
              <a:buNone/>
            </a:pPr>
            <a:endParaRPr lang="en-IN" b="1" dirty="0">
              <a:solidFill>
                <a:schemeClr val="tx1"/>
              </a:solidFill>
            </a:endParaRPr>
          </a:p>
        </p:txBody>
      </p:sp>
      <p:pic>
        <p:nvPicPr>
          <p:cNvPr id="5" name="Picture 4">
            <a:extLst>
              <a:ext uri="{FF2B5EF4-FFF2-40B4-BE49-F238E27FC236}">
                <a16:creationId xmlns:a16="http://schemas.microsoft.com/office/drawing/2014/main" id="{6F49AB31-70C3-3592-8BF6-A4C9CBB8790D}"/>
              </a:ext>
            </a:extLst>
          </p:cNvPr>
          <p:cNvPicPr>
            <a:picLocks noChangeAspect="1"/>
          </p:cNvPicPr>
          <p:nvPr/>
        </p:nvPicPr>
        <p:blipFill>
          <a:blip r:embed="rId2"/>
          <a:stretch>
            <a:fillRect/>
          </a:stretch>
        </p:blipFill>
        <p:spPr>
          <a:xfrm>
            <a:off x="747488" y="1988457"/>
            <a:ext cx="5188855" cy="4260645"/>
          </a:xfrm>
          <a:prstGeom prst="rect">
            <a:avLst/>
          </a:prstGeom>
        </p:spPr>
      </p:pic>
      <p:pic>
        <p:nvPicPr>
          <p:cNvPr id="7" name="Picture 6">
            <a:extLst>
              <a:ext uri="{FF2B5EF4-FFF2-40B4-BE49-F238E27FC236}">
                <a16:creationId xmlns:a16="http://schemas.microsoft.com/office/drawing/2014/main" id="{EB10D89B-D23B-C57E-E975-A796477F88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135" y="1904309"/>
            <a:ext cx="4808585" cy="4344793"/>
          </a:xfrm>
          <a:prstGeom prst="rect">
            <a:avLst/>
          </a:prstGeom>
        </p:spPr>
      </p:pic>
    </p:spTree>
    <p:extLst>
      <p:ext uri="{BB962C8B-B14F-4D97-AF65-F5344CB8AC3E}">
        <p14:creationId xmlns:p14="http://schemas.microsoft.com/office/powerpoint/2010/main" val="3001226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65B8D9-86F4-9F84-F9F0-02D28D6A918E}"/>
              </a:ext>
            </a:extLst>
          </p:cNvPr>
          <p:cNvSpPr>
            <a:spLocks noGrp="1"/>
          </p:cNvSpPr>
          <p:nvPr>
            <p:ph idx="1"/>
          </p:nvPr>
        </p:nvSpPr>
        <p:spPr>
          <a:xfrm>
            <a:off x="1097280" y="101600"/>
            <a:ext cx="10058400" cy="5767493"/>
          </a:xfrm>
        </p:spPr>
        <p:txBody>
          <a:bodyPr/>
          <a:lstStyle/>
          <a:p>
            <a:r>
              <a:rPr lang="en-GB" b="1" dirty="0">
                <a:solidFill>
                  <a:schemeClr val="tx1"/>
                </a:solidFill>
              </a:rPr>
              <a:t>5. Handling missing Data:</a:t>
            </a:r>
          </a:p>
          <a:p>
            <a:pPr lvl="1"/>
            <a:r>
              <a:rPr lang="en-GB" dirty="0">
                <a:solidFill>
                  <a:schemeClr val="tx1"/>
                </a:solidFill>
              </a:rPr>
              <a:t>In the price column the missing data is handled imputation method by performing average to the similar data, formula used: =IF(ISBLANK(D2),AVERAGE($D$2:$D$32,D2,$B$2:$B$32),D2).</a:t>
            </a:r>
          </a:p>
          <a:p>
            <a:pPr lvl="1"/>
            <a:r>
              <a:rPr lang="en-GB" dirty="0">
                <a:solidFill>
                  <a:schemeClr val="tx1"/>
                </a:solidFill>
              </a:rPr>
              <a:t>In the category column the missing data is imputed in the own category and if, </a:t>
            </a:r>
            <a:r>
              <a:rPr lang="en-GB" dirty="0" err="1">
                <a:solidFill>
                  <a:schemeClr val="tx1"/>
                </a:solidFill>
              </a:rPr>
              <a:t>isblank</a:t>
            </a:r>
            <a:r>
              <a:rPr lang="en-GB" dirty="0">
                <a:solidFill>
                  <a:schemeClr val="tx1"/>
                </a:solidFill>
              </a:rPr>
              <a:t>, index, match formula is used, and math operation performed from top to bottom. =IF(ISBLANK(F2),INDEX($F$2:$F$32,MATCH(B2,$B$2:$B$32,0)),F2)</a:t>
            </a:r>
          </a:p>
          <a:p>
            <a:pPr lvl="1"/>
            <a:endParaRPr lang="en-IN" dirty="0">
              <a:solidFill>
                <a:schemeClr val="tx1"/>
              </a:solidFill>
            </a:endParaRPr>
          </a:p>
        </p:txBody>
      </p:sp>
      <p:pic>
        <p:nvPicPr>
          <p:cNvPr id="4" name="Picture 3">
            <a:extLst>
              <a:ext uri="{FF2B5EF4-FFF2-40B4-BE49-F238E27FC236}">
                <a16:creationId xmlns:a16="http://schemas.microsoft.com/office/drawing/2014/main" id="{C0801636-AA88-C96C-B2AE-457BC07F6879}"/>
              </a:ext>
            </a:extLst>
          </p:cNvPr>
          <p:cNvPicPr>
            <a:picLocks noChangeAspect="1"/>
          </p:cNvPicPr>
          <p:nvPr/>
        </p:nvPicPr>
        <p:blipFill>
          <a:blip r:embed="rId2"/>
          <a:stretch>
            <a:fillRect/>
          </a:stretch>
        </p:blipFill>
        <p:spPr>
          <a:xfrm>
            <a:off x="6490200" y="2133602"/>
            <a:ext cx="4264886" cy="4107543"/>
          </a:xfrm>
          <a:prstGeom prst="rect">
            <a:avLst/>
          </a:prstGeom>
        </p:spPr>
      </p:pic>
      <p:pic>
        <p:nvPicPr>
          <p:cNvPr id="6" name="Picture 5">
            <a:extLst>
              <a:ext uri="{FF2B5EF4-FFF2-40B4-BE49-F238E27FC236}">
                <a16:creationId xmlns:a16="http://schemas.microsoft.com/office/drawing/2014/main" id="{B0164A33-FD69-9C59-185E-00799418E5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4720" y="2063032"/>
            <a:ext cx="4264886" cy="4178113"/>
          </a:xfrm>
          <a:prstGeom prst="rect">
            <a:avLst/>
          </a:prstGeom>
        </p:spPr>
      </p:pic>
    </p:spTree>
    <p:extLst>
      <p:ext uri="{BB962C8B-B14F-4D97-AF65-F5344CB8AC3E}">
        <p14:creationId xmlns:p14="http://schemas.microsoft.com/office/powerpoint/2010/main" val="3723685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04FD88-C8AE-003A-FE22-191F1ED412CE}"/>
              </a:ext>
            </a:extLst>
          </p:cNvPr>
          <p:cNvSpPr>
            <a:spLocks noGrp="1"/>
          </p:cNvSpPr>
          <p:nvPr>
            <p:ph idx="1"/>
          </p:nvPr>
        </p:nvSpPr>
        <p:spPr>
          <a:xfrm>
            <a:off x="1097280" y="391887"/>
            <a:ext cx="10058400" cy="5477206"/>
          </a:xfrm>
        </p:spPr>
        <p:txBody>
          <a:bodyPr/>
          <a:lstStyle/>
          <a:p>
            <a:r>
              <a:rPr lang="en-GB" b="1" dirty="0">
                <a:solidFill>
                  <a:schemeClr val="tx1"/>
                </a:solidFill>
              </a:rPr>
              <a:t>6.Conditional Formatting:</a:t>
            </a:r>
          </a:p>
          <a:p>
            <a:pPr lvl="1"/>
            <a:r>
              <a:rPr lang="en-GB" b="1" dirty="0">
                <a:solidFill>
                  <a:schemeClr val="tx1"/>
                </a:solidFill>
              </a:rPr>
              <a:t>In the home tab conditional formatting icon by clicking the drop down we can use format options for the particular column, for the price imputation column colour scale formatting is used and for the category column highlight cell rules in that text that contain formatting is used and changed the cell colour for the particular electronic word present in more than one cell.</a:t>
            </a:r>
            <a:endParaRPr lang="en-IN" b="1" dirty="0">
              <a:solidFill>
                <a:schemeClr val="tx1"/>
              </a:solidFill>
            </a:endParaRPr>
          </a:p>
        </p:txBody>
      </p:sp>
      <p:pic>
        <p:nvPicPr>
          <p:cNvPr id="4" name="Picture 3">
            <a:extLst>
              <a:ext uri="{FF2B5EF4-FFF2-40B4-BE49-F238E27FC236}">
                <a16:creationId xmlns:a16="http://schemas.microsoft.com/office/drawing/2014/main" id="{88F894EA-3D2A-47D3-9A70-8172D1BD9A40}"/>
              </a:ext>
            </a:extLst>
          </p:cNvPr>
          <p:cNvPicPr>
            <a:picLocks noChangeAspect="1"/>
          </p:cNvPicPr>
          <p:nvPr/>
        </p:nvPicPr>
        <p:blipFill>
          <a:blip r:embed="rId2"/>
          <a:stretch>
            <a:fillRect/>
          </a:stretch>
        </p:blipFill>
        <p:spPr>
          <a:xfrm>
            <a:off x="1524977" y="2140058"/>
            <a:ext cx="4861308" cy="3998686"/>
          </a:xfrm>
          <a:prstGeom prst="rect">
            <a:avLst/>
          </a:prstGeom>
        </p:spPr>
      </p:pic>
      <p:pic>
        <p:nvPicPr>
          <p:cNvPr id="5" name="Picture 4">
            <a:extLst>
              <a:ext uri="{FF2B5EF4-FFF2-40B4-BE49-F238E27FC236}">
                <a16:creationId xmlns:a16="http://schemas.microsoft.com/office/drawing/2014/main" id="{0F50BCC3-5C06-BA22-B912-32DE6AE60917}"/>
              </a:ext>
            </a:extLst>
          </p:cNvPr>
          <p:cNvPicPr>
            <a:picLocks noChangeAspect="1"/>
          </p:cNvPicPr>
          <p:nvPr/>
        </p:nvPicPr>
        <p:blipFill>
          <a:blip r:embed="rId3"/>
          <a:stretch>
            <a:fillRect/>
          </a:stretch>
        </p:blipFill>
        <p:spPr>
          <a:xfrm>
            <a:off x="7088408" y="2075542"/>
            <a:ext cx="3686997" cy="4127717"/>
          </a:xfrm>
          <a:prstGeom prst="rect">
            <a:avLst/>
          </a:prstGeom>
        </p:spPr>
      </p:pic>
    </p:spTree>
    <p:extLst>
      <p:ext uri="{BB962C8B-B14F-4D97-AF65-F5344CB8AC3E}">
        <p14:creationId xmlns:p14="http://schemas.microsoft.com/office/powerpoint/2010/main" val="3520240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8C62E-BE98-CD98-62C0-D961615283AB}"/>
              </a:ext>
            </a:extLst>
          </p:cNvPr>
          <p:cNvSpPr>
            <a:spLocks noGrp="1"/>
          </p:cNvSpPr>
          <p:nvPr>
            <p:ph type="title"/>
          </p:nvPr>
        </p:nvSpPr>
        <p:spPr/>
        <p:txBody>
          <a:bodyPr/>
          <a:lstStyle/>
          <a:p>
            <a:r>
              <a:rPr lang="en-GB" dirty="0"/>
              <a:t>CONCLUSION:</a:t>
            </a:r>
            <a:endParaRPr lang="en-IN" dirty="0"/>
          </a:p>
        </p:txBody>
      </p:sp>
      <p:sp>
        <p:nvSpPr>
          <p:cNvPr id="3" name="Content Placeholder 2">
            <a:extLst>
              <a:ext uri="{FF2B5EF4-FFF2-40B4-BE49-F238E27FC236}">
                <a16:creationId xmlns:a16="http://schemas.microsoft.com/office/drawing/2014/main" id="{830CFBBB-82ED-1B8C-3420-29F07FC262F1}"/>
              </a:ext>
            </a:extLst>
          </p:cNvPr>
          <p:cNvSpPr>
            <a:spLocks noGrp="1"/>
          </p:cNvSpPr>
          <p:nvPr>
            <p:ph idx="1"/>
          </p:nvPr>
        </p:nvSpPr>
        <p:spPr/>
        <p:txBody>
          <a:bodyPr>
            <a:normAutofit/>
          </a:bodyPr>
          <a:lstStyle/>
          <a:p>
            <a:pPr marL="201168" lvl="1" indent="0">
              <a:buNone/>
            </a:pPr>
            <a:r>
              <a:rPr lang="en-GB" sz="3000" dirty="0">
                <a:solidFill>
                  <a:schemeClr val="tx1"/>
                </a:solidFill>
              </a:rPr>
              <a:t>	</a:t>
            </a:r>
          </a:p>
          <a:p>
            <a:pPr marL="201168" lvl="1" indent="0">
              <a:buNone/>
            </a:pPr>
            <a:r>
              <a:rPr lang="en-GB" sz="3000">
                <a:solidFill>
                  <a:schemeClr val="tx1"/>
                </a:solidFill>
              </a:rPr>
              <a:t>	The </a:t>
            </a:r>
            <a:r>
              <a:rPr lang="en-GB" sz="3000" dirty="0">
                <a:solidFill>
                  <a:schemeClr val="tx1"/>
                </a:solidFill>
              </a:rPr>
              <a:t>raw data was successfully cleaned, formatted, and organized using Microsoft Excel. Blank values are handled, categories were filled, and data consistency was improved. The final dataset is, structured and ready for analysis.</a:t>
            </a:r>
            <a:endParaRPr lang="en-IN" sz="3000" dirty="0">
              <a:solidFill>
                <a:schemeClr val="tx1"/>
              </a:solidFill>
            </a:endParaRPr>
          </a:p>
        </p:txBody>
      </p:sp>
    </p:spTree>
    <p:extLst>
      <p:ext uri="{BB962C8B-B14F-4D97-AF65-F5344CB8AC3E}">
        <p14:creationId xmlns:p14="http://schemas.microsoft.com/office/powerpoint/2010/main" val="1885525372"/>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{14A9D092-D863-4322-9A8B-340D5E042F98}TFf0a5ceae-4542-492d-822e-d65a94fb0e1e3b562c5a_win32-009a0557e699</Template>
  <TotalTime>199</TotalTime>
  <Words>544</Words>
  <Application>Microsoft Office PowerPoint</Application>
  <PresentationFormat>Widescreen</PresentationFormat>
  <Paragraphs>33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Bookman Old Style</vt:lpstr>
      <vt:lpstr>Calibri</vt:lpstr>
      <vt:lpstr>Franklin Gothic Book</vt:lpstr>
      <vt:lpstr>Custom</vt:lpstr>
      <vt:lpstr>DATA CLEANING &amp; TRANSFORMATION</vt:lpstr>
      <vt:lpstr>“NO DATA IS CLEAN, BUT MOST IS USEFUL.”</vt:lpstr>
      <vt:lpstr>1.EXCUTIVE SUMMARY</vt:lpstr>
      <vt:lpstr>Tasks Performed:</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thamo6099@gmail.com</dc:creator>
  <cp:lastModifiedBy>thamo6099@gmail.com</cp:lastModifiedBy>
  <cp:revision>7</cp:revision>
  <dcterms:created xsi:type="dcterms:W3CDTF">2026-09-02T07:52:16Z</dcterms:created>
  <dcterms:modified xsi:type="dcterms:W3CDTF">2026-09-02T11:11:36Z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